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embeddedFontLst>
    <p:embeddedFont>
      <p:font typeface="Calibri" pitchFamily="34" charset="0"/>
      <p:regular r:id="rId12"/>
      <p:bold r:id="rId13"/>
      <p:italic r:id="rId14"/>
      <p:boldItalic r:id="rId15"/>
    </p:embeddedFont>
    <p:embeddedFont>
      <p:font typeface="Montserrat" charset="0"/>
      <p:regular r:id="rId16"/>
      <p:bold r:id="rId17"/>
      <p:italic r:id="rId18"/>
      <p:boldItalic r:id="rId19"/>
    </p:embeddedFont>
    <p:embeddedFont>
      <p:font typeface="Open Sans" charset="0"/>
      <p:regular r:id="rId20"/>
      <p:bold r:id="rId21"/>
      <p:italic r:id="rId22"/>
      <p:boldItalic r:id="rId23"/>
    </p:embeddedFont>
    <p:embeddedFont>
      <p:font typeface="Century Schoolbook" pitchFamily="18" charset="0"/>
      <p:regular r:id="rId24"/>
      <p:bold r:id="rId25"/>
      <p:italic r:id="rId26"/>
      <p:boldItalic r:id="rId27"/>
    </p:embeddedFont>
    <p:embeddedFont>
      <p:font typeface="Open Sans SemiBold" charset="0"/>
      <p:regular r:id="rId28"/>
      <p:bold r:id="rId29"/>
      <p:italic r:id="rId30"/>
      <p:boldItalic r:id="rId31"/>
    </p:embeddedFont>
    <p:embeddedFont>
      <p:font typeface="Caveat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E55A0D9A-E486-42F1-8604-62AAE836223A}">
  <a:tblStyle styleId="{E55A0D9A-E486-42F1-8604-62AAE83622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-4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2" Type="http://schemas.openxmlformats.org/officeDocument/2006/relationships/font" Target="fonts/font2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font" Target="fonts/font2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font" Target="fonts/font19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b95c55870c6a98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3b95c55870c6a98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429500" y="-952500"/>
            <a:ext cx="5715000" cy="5715000"/>
          </a:xfrm>
          <a:prstGeom prst="roundRect">
            <a:avLst>
              <a:gd name="adj" fmla="val 47244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680448" y="2684115"/>
            <a:ext cx="8831103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CSE – BUSINESS SYSTEMS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288866" y="5054600"/>
            <a:ext cx="3386667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O.Likhitha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Hemalatha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24A21A6544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 -BS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49381"/>
            <a:ext cx="12341629" cy="724869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16131" y="477408"/>
            <a:ext cx="1114736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 smtClean="0">
                <a:solidFill>
                  <a:srgbClr val="06B6D4"/>
                </a:solidFill>
                <a:latin typeface="Montserrat"/>
                <a:sym typeface="Montserrat"/>
              </a:rPr>
              <a:t>WHAT IS BUSSINESS SYSTEMS ??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141421" y="1349553"/>
            <a:ext cx="762000" cy="45719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330035" y="1853738"/>
            <a:ext cx="7265325" cy="3607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800" b="1" dirty="0" smtClean="0">
                <a:solidFill>
                  <a:schemeClr val="accent5">
                    <a:lumMod val="75000"/>
                  </a:schemeClr>
                </a:solidFill>
              </a:rPr>
              <a:t> Programming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</a:rPr>
              <a:t> – </a:t>
            </a:r>
            <a:r>
              <a:rPr lang="en-US" sz="1800" dirty="0" smtClean="0"/>
              <a:t>C / C++ / Java / Python basics</a:t>
            </a:r>
          </a:p>
          <a:p>
            <a:pPr>
              <a:buFont typeface="Arial" pitchFamily="34" charset="0"/>
              <a:buChar char="•"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800" b="1" dirty="0" smtClean="0">
                <a:solidFill>
                  <a:schemeClr val="accent5">
                    <a:lumMod val="75000"/>
                  </a:schemeClr>
                </a:solidFill>
              </a:rPr>
              <a:t> Data Structures &amp; Algorithms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</a:rPr>
              <a:t> – </a:t>
            </a:r>
            <a:r>
              <a:rPr lang="en-US" sz="1800" dirty="0" smtClean="0"/>
              <a:t>arrays, trees, graphs, complexity</a:t>
            </a:r>
          </a:p>
          <a:p>
            <a:pPr>
              <a:buFont typeface="Arial" pitchFamily="34" charset="0"/>
              <a:buChar char="•"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800" b="1" dirty="0" smtClean="0">
                <a:solidFill>
                  <a:schemeClr val="accent5">
                    <a:lumMod val="75000"/>
                  </a:schemeClr>
                </a:solidFill>
              </a:rPr>
              <a:t> Operating Systems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</a:rPr>
              <a:t> – </a:t>
            </a:r>
            <a:r>
              <a:rPr lang="en-US" sz="1800" dirty="0" smtClean="0"/>
              <a:t>process, memory, scheduling</a:t>
            </a:r>
          </a:p>
          <a:p>
            <a:pPr>
              <a:buFont typeface="Arial" pitchFamily="34" charset="0"/>
              <a:buChar char="•"/>
            </a:pPr>
            <a:endParaRPr lang="en-US" sz="1800" dirty="0" smtClean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1800" b="1" dirty="0" smtClean="0">
                <a:solidFill>
                  <a:schemeClr val="accent5">
                    <a:lumMod val="75000"/>
                  </a:schemeClr>
                </a:solidFill>
              </a:rPr>
              <a:t> DBMS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</a:rPr>
              <a:t> – </a:t>
            </a:r>
            <a:r>
              <a:rPr lang="en-US" sz="1800" dirty="0" smtClean="0"/>
              <a:t>SQL, normalization, transactions</a:t>
            </a:r>
          </a:p>
          <a:p>
            <a:pPr>
              <a:buFont typeface="Arial" pitchFamily="34" charset="0"/>
              <a:buChar char="•"/>
            </a:pPr>
            <a:endParaRPr lang="en-US" sz="1800" dirty="0" smtClean="0"/>
          </a:p>
          <a:p>
            <a:pPr>
              <a:buFont typeface="Arial" pitchFamily="34" charset="0"/>
              <a:buChar char="•"/>
            </a:pPr>
            <a:r>
              <a:rPr lang="en-US" sz="1800" b="1" dirty="0" smtClean="0">
                <a:solidFill>
                  <a:schemeClr val="accent5">
                    <a:lumMod val="75000"/>
                  </a:schemeClr>
                </a:solidFill>
              </a:rPr>
              <a:t> Computer Networks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</a:rPr>
              <a:t> – </a:t>
            </a:r>
            <a:r>
              <a:rPr lang="en-US" sz="1800" dirty="0" smtClean="0"/>
              <a:t>OSI, TCP/IP, protocols</a:t>
            </a:r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sz="1800" b="1" dirty="0" smtClean="0">
                <a:solidFill>
                  <a:schemeClr val="accent5">
                    <a:lumMod val="75000"/>
                  </a:schemeClr>
                </a:solidFill>
              </a:rPr>
              <a:t>Theory of Computation 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800" dirty="0" smtClean="0">
                <a:solidFill>
                  <a:schemeClr val="accent5">
                    <a:lumMod val="75000"/>
                  </a:schemeClr>
                </a:solidFill>
              </a:rPr>
              <a:t>– </a:t>
            </a:r>
            <a:r>
              <a:rPr lang="en-US" sz="1800" dirty="0" smtClean="0"/>
              <a:t>foundation of computation</a:t>
            </a:r>
          </a:p>
          <a:p>
            <a:r>
              <a:rPr lang="en-US" sz="1800" i="1" dirty="0" smtClean="0"/>
              <a:t>Programming languages (C, C++, Java, Python) </a:t>
            </a:r>
            <a:endParaRPr lang="en-US" sz="1800" dirty="0" smtClean="0"/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5769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1000125" y="4393852"/>
            <a:ext cx="909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350" b="1" i="0" u="none" strike="noStrike" cap="none" dirty="0" smtClean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dirty="0" smtClean="0">
                <a:solidFill>
                  <a:srgbClr val="1E293B"/>
                </a:solidFill>
                <a:latin typeface="Montserrat"/>
                <a:sym typeface="Montserrat"/>
              </a:rPr>
              <a:t>COMPARSION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57150" cy="4476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964275" y="1035766"/>
          <a:ext cx="10196391" cy="5298532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398797"/>
                <a:gridCol w="3398797"/>
                <a:gridCol w="3398797"/>
              </a:tblGrid>
              <a:tr h="1024662">
                <a:tc>
                  <a:txBody>
                    <a:bodyPr/>
                    <a:lstStyle/>
                    <a:p>
                      <a:pPr algn="ctr"/>
                      <a:r>
                        <a:rPr lang="en-US" sz="2800" u="none" strike="noStrike" cap="none" dirty="0" smtClean="0">
                          <a:sym typeface="Arial"/>
                        </a:rPr>
                        <a:t>Feature 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strike="noStrike" cap="none" dirty="0" smtClean="0">
                          <a:sym typeface="Arial"/>
                        </a:rPr>
                        <a:t>BS Computer Science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BTECH CSE</a:t>
                      </a:r>
                      <a:endParaRPr lang="en-US" sz="2400" dirty="0"/>
                    </a:p>
                  </a:txBody>
                  <a:tcPr/>
                </a:tc>
              </a:tr>
              <a:tr h="907557">
                <a:tc>
                  <a:txBody>
                    <a:bodyPr/>
                    <a:lstStyle/>
                    <a:p>
                      <a:r>
                        <a:rPr lang="en-US" sz="2000" u="none" strike="noStrike" cap="none" dirty="0" smtClean="0">
                          <a:sym typeface="Arial"/>
                        </a:rPr>
                        <a:t>Primary Focus</a:t>
                      </a:r>
                      <a:endParaRPr lang="en-US" sz="2000" dirty="0">
                        <a:latin typeface="Century Schoolbook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u="none" strike="noStrike" cap="none" dirty="0" smtClean="0">
                          <a:sym typeface="Arial"/>
                        </a:rPr>
                        <a:t>Theoretical &amp; Scientific</a:t>
                      </a:r>
                      <a:endParaRPr lang="en-US" sz="2000" b="1" i="1" dirty="0">
                        <a:latin typeface="Century Schoolbook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u="none" strike="noStrike" cap="none" dirty="0" smtClean="0">
                          <a:sym typeface="Arial"/>
                        </a:rPr>
                        <a:t>Practical &amp; Application-based</a:t>
                      </a:r>
                      <a:endParaRPr lang="en-US" sz="1600" dirty="0">
                        <a:latin typeface="Century Schoolbook" pitchFamily="18" charset="0"/>
                      </a:endParaRPr>
                    </a:p>
                  </a:txBody>
                  <a:tcPr/>
                </a:tc>
              </a:tr>
              <a:tr h="848789">
                <a:tc>
                  <a:txBody>
                    <a:bodyPr/>
                    <a:lstStyle/>
                    <a:p>
                      <a:r>
                        <a:rPr lang="en-US" sz="2800" u="none" strike="noStrike" cap="none" dirty="0" smtClean="0">
                          <a:sym typeface="Arial"/>
                        </a:rPr>
                        <a:t>Duration</a:t>
                      </a:r>
                      <a:endParaRPr lang="en-US" sz="5400" dirty="0">
                        <a:latin typeface="Century Schoolbook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cap="none" dirty="0" smtClean="0">
                          <a:sym typeface="Arial"/>
                        </a:rPr>
                        <a:t>3 - 4 Years (varies by region)</a:t>
                      </a:r>
                      <a:endParaRPr lang="en-US" sz="1800" dirty="0">
                        <a:latin typeface="Century Schoolbook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u="none" strike="noStrike" cap="none" dirty="0" smtClean="0">
                          <a:sym typeface="Arial"/>
                        </a:rPr>
                        <a:t>4 Years</a:t>
                      </a:r>
                      <a:endParaRPr lang="en-US" sz="2000" dirty="0">
                        <a:latin typeface="Century Schoolbook" pitchFamily="18" charset="0"/>
                      </a:endParaRPr>
                    </a:p>
                  </a:txBody>
                  <a:tcPr/>
                </a:tc>
              </a:tr>
              <a:tr h="166873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u="none" strike="noStrike" cap="none" dirty="0" smtClean="0">
                          <a:sym typeface="Arial"/>
                        </a:rPr>
                        <a:t>Typical Career</a:t>
                      </a:r>
                      <a:endParaRPr lang="en-US" sz="2800" dirty="0" smtClean="0"/>
                    </a:p>
                    <a:p>
                      <a:endParaRPr lang="en-US" sz="2800" dirty="0">
                        <a:latin typeface="Century Schoolbook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u="none" strike="noStrike" cap="none" dirty="0" smtClean="0">
                          <a:sym typeface="Arial"/>
                        </a:rPr>
                        <a:t>Research, Data Analysis, Academia</a:t>
                      </a:r>
                      <a:endParaRPr lang="en-US" sz="2000" dirty="0">
                        <a:latin typeface="Century Schoolbook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cap="none" dirty="0" smtClean="0">
                          <a:sym typeface="Arial"/>
                        </a:rPr>
                        <a:t>Software Engineering, Systems Design</a:t>
                      </a:r>
                      <a:endParaRPr lang="en-US" sz="1800" dirty="0">
                        <a:latin typeface="Century Schoolbook" pitchFamily="18" charset="0"/>
                      </a:endParaRPr>
                    </a:p>
                  </a:txBody>
                  <a:tcPr/>
                </a:tc>
              </a:tr>
              <a:tr h="848789">
                <a:tc>
                  <a:txBody>
                    <a:bodyPr/>
                    <a:lstStyle/>
                    <a:p>
                      <a:r>
                        <a:rPr lang="en-US" sz="2400" u="none" strike="noStrike" cap="none" dirty="0" smtClean="0">
                          <a:sym typeface="Arial"/>
                        </a:rPr>
                        <a:t>Entry Level</a:t>
                      </a:r>
                      <a:endParaRPr lang="en-US" sz="4800" dirty="0">
                        <a:latin typeface="Century Schoolbook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cap="none" dirty="0" smtClean="0">
                          <a:sym typeface="Arial"/>
                        </a:rPr>
                        <a:t>Entry-level technical or research roles</a:t>
                      </a:r>
                      <a:endParaRPr lang="en-US" sz="1800" dirty="0">
                        <a:latin typeface="Century Schoolbook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cap="none" dirty="0" smtClean="0">
                          <a:sym typeface="Arial"/>
                        </a:rPr>
                        <a:t>Industry-ready engineering roles</a:t>
                      </a:r>
                      <a:endParaRPr lang="en-US" sz="1800" dirty="0">
                        <a:latin typeface="Century Schoolbook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42244"/>
            <a:ext cx="3492549" cy="3125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42244"/>
            <a:ext cx="3492549" cy="3125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42244"/>
            <a:ext cx="3492549" cy="312598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952500" y="3375719"/>
            <a:ext cx="28670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TECHNICAL CORE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52500" y="3775769"/>
            <a:ext cx="27305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Foundation in computer science including programming, algorithms, and infrastructure management.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730799" y="3375719"/>
            <a:ext cx="28670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STRATEGIC LOGIC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730799" y="3775769"/>
            <a:ext cx="27305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Advanced business analytics and process management to drive organizational efficiency.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509099" y="3375719"/>
            <a:ext cx="2867077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MANAGEMENT MINDSET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509099" y="4032944"/>
            <a:ext cx="27305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Decision-making frameworks and leadership concepts for a dynamic corporate environment.</a:t>
            </a:r>
            <a:endParaRPr/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273754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0799" y="273754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09099" y="2737544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THE THREE PILLARS OF CSE-BS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571500"/>
            <a:ext cx="57150" cy="4476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17"/>
          <p:cNvGraphicFramePr/>
          <p:nvPr/>
        </p:nvGraphicFramePr>
        <p:xfrm>
          <a:off x="571500" y="2138362"/>
          <a:ext cx="11049000" cy="333362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3063775"/>
                <a:gridCol w="4095750"/>
                <a:gridCol w="3889475"/>
              </a:tblGrid>
              <a:tr h="66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ym typeface="Open Sans"/>
                        </a:rPr>
                        <a:t>Professional Role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Target Industry Sector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Core Focus Area</a:t>
                      </a:r>
                      <a:endParaRPr/>
                    </a:p>
                  </a:txBody>
                  <a:tcPr marL="63500" marR="63500" marT="25400" marB="25400" anchor="ctr"/>
                </a:tc>
              </a:tr>
              <a:tr h="66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Software Engineer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IT Services &amp; E-commerce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Business-Logic Software</a:t>
                      </a:r>
                      <a:endParaRPr/>
                    </a:p>
                  </a:txBody>
                  <a:tcPr marL="63500" marR="63500" marT="25400" marB="25400" anchor="ctr"/>
                </a:tc>
              </a:tr>
              <a:tr h="66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Business Analyst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Consulting &amp; Banking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Solution Architecting</a:t>
                      </a:r>
                      <a:endParaRPr/>
                    </a:p>
                  </a:txBody>
                  <a:tcPr marL="63500" marR="63500" marT="25400" marB="25400" anchor="ctr"/>
                </a:tc>
              </a:tr>
              <a:tr h="66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Product Manager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Startups &amp; Tech Giants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Market-Tech Alignment</a:t>
                      </a:r>
                      <a:endParaRPr/>
                    </a:p>
                  </a:txBody>
                  <a:tcPr marL="63500" marR="63500" marT="25400" marB="25400" anchor="ctr"/>
                </a:tc>
              </a:tr>
              <a:tr h="666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Systems Analyst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Manufacturing &amp; Fintech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>
                          <a:sym typeface="Open Sans"/>
                        </a:rPr>
                        <a:t>Operational Excellence</a:t>
                      </a:r>
                      <a:endParaRPr/>
                    </a:p>
                  </a:txBody>
                  <a:tcPr marL="63500" marR="63500" marT="25400" marB="25400" anchor="ctr"/>
                </a:tc>
              </a:tr>
            </a:tbl>
          </a:graphicData>
        </a:graphic>
      </p:graphicFrame>
      <p:sp>
        <p:nvSpPr>
          <p:cNvPr id="142" name="Google Shape;142;p17"/>
          <p:cNvSpPr/>
          <p:nvPr/>
        </p:nvSpPr>
        <p:spPr>
          <a:xfrm>
            <a:off x="571500" y="2784127"/>
            <a:ext cx="30637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3635275" y="2784127"/>
            <a:ext cx="40957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7731025" y="2784127"/>
            <a:ext cx="388947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1500" y="3463230"/>
            <a:ext cx="3063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3635275" y="3463230"/>
            <a:ext cx="4095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731025" y="3463230"/>
            <a:ext cx="38894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4128045"/>
            <a:ext cx="3063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3635275" y="4128045"/>
            <a:ext cx="4095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731025" y="4128045"/>
            <a:ext cx="38894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571500" y="4792860"/>
            <a:ext cx="3063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635275" y="4792860"/>
            <a:ext cx="4095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731025" y="4792860"/>
            <a:ext cx="38894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71500" y="5457676"/>
            <a:ext cx="3063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3635275" y="5457676"/>
            <a:ext cx="4095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731025" y="5457676"/>
            <a:ext cx="38894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INDUSTRY-SPECIFIC CAREER ROLES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57150" cy="4476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9775"/>
            <a:ext cx="5381625" cy="3590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009775"/>
            <a:ext cx="5381625" cy="35907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952500" y="3143250"/>
            <a:ext cx="485060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HIGHER EDUCATION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52500" y="3543300"/>
            <a:ext cx="4619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Strong foundations for pursuing elite postgraduate programs including: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619875" y="3143250"/>
            <a:ext cx="485060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ENTREPRENEURSHIP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619875" y="3543300"/>
            <a:ext cx="46196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Equips founders with the technical skills to build products and the business skills to scale companies effectively.</a:t>
            </a:r>
            <a:endParaRPr/>
          </a:p>
        </p:txBody>
      </p:sp>
      <p:pic>
        <p:nvPicPr>
          <p:cNvPr id="183" name="Google Shape;18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25050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1076325" y="4243327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143000" y="4244280"/>
            <a:ext cx="44291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MBA in Finance/Systems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076325" y="451761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1143000" y="4518570"/>
            <a:ext cx="44291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MS in Business Analytics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076325" y="4791908"/>
            <a:ext cx="666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143000" y="4792860"/>
            <a:ext cx="44291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MS in Data Science</a:t>
            </a:r>
            <a:endParaRPr/>
          </a:p>
        </p:txBody>
      </p:sp>
      <p:pic>
        <p:nvPicPr>
          <p:cNvPr id="190" name="Google Shape;19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250507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762000" y="57150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1E293B"/>
                </a:solidFill>
                <a:latin typeface="Montserrat"/>
                <a:ea typeface="Montserrat"/>
                <a:cs typeface="Montserrat"/>
                <a:sym typeface="Montserrat"/>
              </a:rPr>
              <a:t>ADVANCEMENT PATHWAYS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71500" y="571500"/>
            <a:ext cx="57150" cy="4476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6908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86267" y="753533"/>
            <a:ext cx="7823200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chemeClr val="accent5">
                    <a:lumMod val="5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GLOBAL LEADERSHIP SCOPE</a:t>
            </a:r>
            <a:endParaRPr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1" name="Google Shape;201;p20"/>
          <p:cNvSpPr txBox="1"/>
          <p:nvPr/>
        </p:nvSpPr>
        <p:spPr>
          <a:xfrm>
            <a:off x="-651933" y="1464733"/>
            <a:ext cx="6176433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endParaRPr sz="1800"/>
          </a:p>
        </p:txBody>
      </p:sp>
      <p:sp>
        <p:nvSpPr>
          <p:cNvPr id="202" name="Google Shape;202;p20"/>
          <p:cNvSpPr txBox="1"/>
          <p:nvPr/>
        </p:nvSpPr>
        <p:spPr>
          <a:xfrm>
            <a:off x="169333" y="2167467"/>
            <a:ext cx="5355167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733" y="2302933"/>
            <a:ext cx="65955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</a:rPr>
              <a:t> Multicultural Management</a:t>
            </a:r>
          </a:p>
          <a:p>
            <a:pPr>
              <a:buFont typeface="Wingdings" pitchFamily="2" charset="2"/>
              <a:buChar char="ü"/>
            </a:pPr>
            <a:endParaRPr lang="en-US" sz="18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</a:rPr>
              <a:t> Strategic Adaptability</a:t>
            </a:r>
          </a:p>
          <a:p>
            <a:pPr>
              <a:buFont typeface="Wingdings" pitchFamily="2" charset="2"/>
              <a:buChar char="ü"/>
            </a:pPr>
            <a:endParaRPr lang="en-US" sz="18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</a:rPr>
              <a:t> Global Objectives</a:t>
            </a:r>
          </a:p>
          <a:p>
            <a:pPr>
              <a:buFont typeface="Wingdings" pitchFamily="2" charset="2"/>
              <a:buChar char="ü"/>
            </a:pPr>
            <a:endParaRPr lang="en-US" sz="18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</a:rPr>
              <a:t> Local </a:t>
            </a:r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</a:rPr>
              <a:t>Needs</a:t>
            </a:r>
            <a:r>
              <a:rPr lang="en-US" sz="1800" dirty="0" smtClean="0">
                <a:solidFill>
                  <a:schemeClr val="accent5">
                    <a:lumMod val="50000"/>
                  </a:schemeClr>
                </a:solidFill>
              </a:rPr>
              <a:t> </a:t>
            </a:r>
            <a:endParaRPr lang="en-US" sz="18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ü"/>
            </a:pPr>
            <a:endParaRPr lang="en-US" sz="18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</a:rPr>
              <a:t> Multinational Operations</a:t>
            </a:r>
          </a:p>
          <a:p>
            <a:pPr>
              <a:buFont typeface="Wingdings" pitchFamily="2" charset="2"/>
              <a:buChar char="ü"/>
            </a:pPr>
            <a:endParaRPr lang="en-US" sz="18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</a:rPr>
              <a:t> Leadership Development</a:t>
            </a:r>
          </a:p>
          <a:p>
            <a:pPr>
              <a:buFont typeface="Wingdings" pitchFamily="2" charset="2"/>
              <a:buChar char="ü"/>
            </a:pPr>
            <a:endParaRPr lang="en-US" sz="18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>
              <a:buFont typeface="Wingdings" pitchFamily="2" charset="2"/>
              <a:buChar char="ü"/>
            </a:pPr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</a:rPr>
              <a:t> Professional </a:t>
            </a:r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</a:rPr>
              <a:t>Programs</a:t>
            </a:r>
            <a:endParaRPr lang="en-US" sz="1800" dirty="0" smtClean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1800" dirty="0" smtClean="0">
                <a:solidFill>
                  <a:schemeClr val="accent5">
                    <a:lumMod val="50000"/>
                  </a:schemeClr>
                </a:solidFill>
              </a:rPr>
              <a:t/>
            </a:r>
            <a:br>
              <a:rPr lang="en-US" sz="1800" dirty="0" smtClean="0">
                <a:solidFill>
                  <a:schemeClr val="accent5">
                    <a:lumMod val="50000"/>
                  </a:schemeClr>
                </a:solidFill>
              </a:rPr>
            </a:br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333500" y="1663154"/>
            <a:ext cx="952500" cy="9525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190750" y="2539454"/>
            <a:ext cx="7810500" cy="156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1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“Technology is best when it brings people together and solves real-world business problems.” 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010150" y="4385220"/>
            <a:ext cx="21717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06B6D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THE ESSENCE OF CSE-BS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"/>
          <p:cNvSpPr txBox="1"/>
          <p:nvPr/>
        </p:nvSpPr>
        <p:spPr>
          <a:xfrm>
            <a:off x="3433783" y="1762800"/>
            <a:ext cx="9671700" cy="16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dk1"/>
                </a:solidFill>
                <a:latin typeface="Caveat"/>
                <a:ea typeface="Caveat"/>
                <a:cs typeface="Caveat"/>
                <a:sym typeface="Caveat"/>
              </a:rPr>
              <a:t>THANKYOU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306</Words>
  <PresentationFormat>Custom</PresentationFormat>
  <Paragraphs>86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Montserrat</vt:lpstr>
      <vt:lpstr>Open Sans</vt:lpstr>
      <vt:lpstr>Century Schoolbook</vt:lpstr>
      <vt:lpstr>Wingdings</vt:lpstr>
      <vt:lpstr>Open Sans SemiBold</vt:lpstr>
      <vt:lpstr>Caveat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CSECS LAB-44</dc:creator>
  <cp:lastModifiedBy>CSECS LAB-44</cp:lastModifiedBy>
  <cp:revision>6</cp:revision>
  <dcterms:modified xsi:type="dcterms:W3CDTF">2026-02-04T09:42:05Z</dcterms:modified>
</cp:coreProperties>
</file>